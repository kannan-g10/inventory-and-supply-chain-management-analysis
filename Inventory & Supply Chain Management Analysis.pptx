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9" autoAdjust="0"/>
    <p:restoredTop sz="94660"/>
  </p:normalViewPr>
  <p:slideViewPr>
    <p:cSldViewPr snapToGrid="0">
      <p:cViewPr varScale="1">
        <p:scale>
          <a:sx n="96" d="100"/>
          <a:sy n="96" d="100"/>
        </p:scale>
        <p:origin x="294" y="5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026E1C7-A619-4228-9ABE-C3342A76E58A}"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268E2E-44FF-480A-AD9A-5B5176145691}"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4350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26E1C7-A619-4228-9ABE-C3342A76E58A}"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268E2E-44FF-480A-AD9A-5B5176145691}" type="slidenum">
              <a:rPr lang="en-IN" smtClean="0"/>
              <a:t>‹#›</a:t>
            </a:fld>
            <a:endParaRPr lang="en-IN"/>
          </a:p>
        </p:txBody>
      </p:sp>
    </p:spTree>
    <p:extLst>
      <p:ext uri="{BB962C8B-B14F-4D97-AF65-F5344CB8AC3E}">
        <p14:creationId xmlns:p14="http://schemas.microsoft.com/office/powerpoint/2010/main" val="1290214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26E1C7-A619-4228-9ABE-C3342A76E58A}"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268E2E-44FF-480A-AD9A-5B5176145691}"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530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026E1C7-A619-4228-9ABE-C3342A76E58A}" type="datetimeFigureOut">
              <a:rPr lang="en-IN" smtClean="0"/>
              <a:t>04-05-2026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268E2E-44FF-480A-AD9A-5B5176145691}" type="slidenum">
              <a:rPr lang="en-IN" smtClean="0"/>
              <a:t>‹#›</a:t>
            </a:fld>
            <a:endParaRPr lang="en-IN"/>
          </a:p>
        </p:txBody>
      </p:sp>
    </p:spTree>
    <p:extLst>
      <p:ext uri="{BB962C8B-B14F-4D97-AF65-F5344CB8AC3E}">
        <p14:creationId xmlns:p14="http://schemas.microsoft.com/office/powerpoint/2010/main" val="2450763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26E1C7-A619-4228-9ABE-C3342A76E58A}" type="datetimeFigureOut">
              <a:rPr lang="en-IN" smtClean="0"/>
              <a:t>04-05-2026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C268E2E-44FF-480A-AD9A-5B5176145691}" type="slidenum">
              <a:rPr lang="en-IN" smtClean="0"/>
              <a:t>‹#›</a:t>
            </a:fld>
            <a:endParaRPr lang="en-IN"/>
          </a:p>
        </p:txBody>
      </p:sp>
    </p:spTree>
    <p:extLst>
      <p:ext uri="{BB962C8B-B14F-4D97-AF65-F5344CB8AC3E}">
        <p14:creationId xmlns:p14="http://schemas.microsoft.com/office/powerpoint/2010/main" val="42014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026E1C7-A619-4228-9ABE-C3342A76E58A}" type="datetimeFigureOut">
              <a:rPr lang="en-IN" smtClean="0"/>
              <a:t>04-05-2026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268E2E-44FF-480A-AD9A-5B5176145691}" type="slidenum">
              <a:rPr lang="en-IN" smtClean="0"/>
              <a:t>‹#›</a:t>
            </a:fld>
            <a:endParaRPr lang="en-IN"/>
          </a:p>
        </p:txBody>
      </p:sp>
    </p:spTree>
    <p:extLst>
      <p:ext uri="{BB962C8B-B14F-4D97-AF65-F5344CB8AC3E}">
        <p14:creationId xmlns:p14="http://schemas.microsoft.com/office/powerpoint/2010/main" val="3492951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026E1C7-A619-4228-9ABE-C3342A76E58A}" type="datetimeFigureOut">
              <a:rPr lang="en-IN" smtClean="0"/>
              <a:t>04-05-2026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DC268E2E-44FF-480A-AD9A-5B5176145691}" type="slidenum">
              <a:rPr lang="en-IN" smtClean="0"/>
              <a:t>‹#›</a:t>
            </a:fld>
            <a:endParaRPr lang="en-IN"/>
          </a:p>
        </p:txBody>
      </p:sp>
    </p:spTree>
    <p:extLst>
      <p:ext uri="{BB962C8B-B14F-4D97-AF65-F5344CB8AC3E}">
        <p14:creationId xmlns:p14="http://schemas.microsoft.com/office/powerpoint/2010/main" val="3881521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026E1C7-A619-4228-9ABE-C3342A76E58A}" type="datetimeFigureOut">
              <a:rPr lang="en-IN" smtClean="0"/>
              <a:t>04-05-2026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C268E2E-44FF-480A-AD9A-5B5176145691}" type="slidenum">
              <a:rPr lang="en-IN" smtClean="0"/>
              <a:t>‹#›</a:t>
            </a:fld>
            <a:endParaRPr lang="en-IN"/>
          </a:p>
        </p:txBody>
      </p:sp>
    </p:spTree>
    <p:extLst>
      <p:ext uri="{BB962C8B-B14F-4D97-AF65-F5344CB8AC3E}">
        <p14:creationId xmlns:p14="http://schemas.microsoft.com/office/powerpoint/2010/main" val="854431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26E1C7-A619-4228-9ABE-C3342A76E58A}" type="datetimeFigureOut">
              <a:rPr lang="en-IN" smtClean="0"/>
              <a:t>04-05-2026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268E2E-44FF-480A-AD9A-5B5176145691}" type="slidenum">
              <a:rPr lang="en-IN" smtClean="0"/>
              <a:t>‹#›</a:t>
            </a:fld>
            <a:endParaRPr lang="en-IN"/>
          </a:p>
        </p:txBody>
      </p:sp>
    </p:spTree>
    <p:extLst>
      <p:ext uri="{BB962C8B-B14F-4D97-AF65-F5344CB8AC3E}">
        <p14:creationId xmlns:p14="http://schemas.microsoft.com/office/powerpoint/2010/main" val="3363069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26E1C7-A619-4228-9ABE-C3342A76E58A}"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268E2E-44FF-480A-AD9A-5B5176145691}" type="slidenum">
              <a:rPr lang="en-IN" smtClean="0"/>
              <a:t>‹#›</a:t>
            </a:fld>
            <a:endParaRPr lang="en-IN"/>
          </a:p>
        </p:txBody>
      </p:sp>
    </p:spTree>
    <p:extLst>
      <p:ext uri="{BB962C8B-B14F-4D97-AF65-F5344CB8AC3E}">
        <p14:creationId xmlns:p14="http://schemas.microsoft.com/office/powerpoint/2010/main" val="1335725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26E1C7-A619-4228-9ABE-C3342A76E58A}"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268E2E-44FF-480A-AD9A-5B5176145691}" type="slidenum">
              <a:rPr lang="en-IN" smtClean="0"/>
              <a:t>‹#›</a:t>
            </a:fld>
            <a:endParaRPr lang="en-IN"/>
          </a:p>
        </p:txBody>
      </p:sp>
    </p:spTree>
    <p:extLst>
      <p:ext uri="{BB962C8B-B14F-4D97-AF65-F5344CB8AC3E}">
        <p14:creationId xmlns:p14="http://schemas.microsoft.com/office/powerpoint/2010/main" val="2491095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026E1C7-A619-4228-9ABE-C3342A76E58A}" type="datetimeFigureOut">
              <a:rPr lang="en-IN" smtClean="0"/>
              <a:t>04-05-2026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C268E2E-44FF-480A-AD9A-5B5176145691}"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22029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50269-1512-1D2F-BCE5-13C454591658}"/>
              </a:ext>
            </a:extLst>
          </p:cNvPr>
          <p:cNvSpPr>
            <a:spLocks noGrp="1"/>
          </p:cNvSpPr>
          <p:nvPr>
            <p:ph type="title"/>
          </p:nvPr>
        </p:nvSpPr>
        <p:spPr>
          <a:xfrm>
            <a:off x="1102251" y="301512"/>
            <a:ext cx="10058400" cy="1450757"/>
          </a:xfrm>
        </p:spPr>
        <p:txBody>
          <a:bodyPr>
            <a:normAutofit/>
          </a:bodyPr>
          <a:lstStyle/>
          <a:p>
            <a:r>
              <a:rPr lang="en-GB" sz="4000" b="1" dirty="0">
                <a:solidFill>
                  <a:schemeClr val="accent2"/>
                </a:solidFill>
                <a:latin typeface="Times New Roman" panose="02020603050405020304" pitchFamily="18" charset="0"/>
                <a:cs typeface="Times New Roman" panose="02020603050405020304" pitchFamily="18" charset="0"/>
              </a:rPr>
              <a:t>Inventory</a:t>
            </a:r>
            <a:r>
              <a:rPr lang="en-GB" sz="3200" b="1" dirty="0">
                <a:solidFill>
                  <a:schemeClr val="accent2"/>
                </a:solidFill>
                <a:latin typeface="Times New Roman" panose="02020603050405020304" pitchFamily="18" charset="0"/>
                <a:cs typeface="Times New Roman" panose="02020603050405020304" pitchFamily="18" charset="0"/>
              </a:rPr>
              <a:t> &amp; Supply Chain Management Analysis</a:t>
            </a:r>
          </a:p>
        </p:txBody>
      </p:sp>
    </p:spTree>
    <p:extLst>
      <p:ext uri="{BB962C8B-B14F-4D97-AF65-F5344CB8AC3E}">
        <p14:creationId xmlns:p14="http://schemas.microsoft.com/office/powerpoint/2010/main" val="495206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FE50C-9B5F-B664-6B2D-09B3DAC9DFD2}"/>
              </a:ext>
            </a:extLst>
          </p:cNvPr>
          <p:cNvSpPr>
            <a:spLocks noGrp="1"/>
          </p:cNvSpPr>
          <p:nvPr>
            <p:ph type="title"/>
          </p:nvPr>
        </p:nvSpPr>
        <p:spPr/>
        <p:txBody>
          <a:bodyPr>
            <a:normAutofit/>
          </a:bodyPr>
          <a:lstStyle/>
          <a:p>
            <a:r>
              <a:rPr lang="en-IN" sz="3600" b="1" dirty="0">
                <a:solidFill>
                  <a:schemeClr val="accent2"/>
                </a:solidFill>
                <a:latin typeface="Times New Roman" panose="02020603050405020304" pitchFamily="18" charset="0"/>
                <a:cs typeface="Times New Roman" panose="02020603050405020304" pitchFamily="18" charset="0"/>
              </a:rPr>
              <a:t>Project Overview :</a:t>
            </a:r>
            <a:endParaRPr lang="en-IN" sz="3600"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65D23F-34E5-659B-76A1-7CD5AF6C83DF}"/>
              </a:ext>
            </a:extLst>
          </p:cNvPr>
          <p:cNvSpPr>
            <a:spLocks noGrp="1"/>
          </p:cNvSpPr>
          <p:nvPr>
            <p:ph idx="1"/>
          </p:nvPr>
        </p:nvSpPr>
        <p:spPr/>
        <p:txBody>
          <a:bodyPr/>
          <a:lstStyle/>
          <a:p>
            <a:endParaRPr lang="en-GB" dirty="0"/>
          </a:p>
          <a:p>
            <a:endParaRPr lang="en-GB" dirty="0"/>
          </a:p>
          <a:p>
            <a:r>
              <a:rPr lang="en-GB" dirty="0">
                <a:latin typeface="Times New Roman" panose="02020603050405020304" pitchFamily="18" charset="0"/>
                <a:cs typeface="Times New Roman" panose="02020603050405020304" pitchFamily="18" charset="0"/>
              </a:rPr>
              <a:t>This project provides a comprehensive analysis of inventory and supply chain efficiency. By integrating data from procurement and sales, the project identifies bottlenecks, optimizes stock levels, and provides actionable insights through data visualization. The workflow covers the full data cycle: </a:t>
            </a:r>
            <a:r>
              <a:rPr lang="en-GB" b="1" dirty="0">
                <a:latin typeface="Times New Roman" panose="02020603050405020304" pitchFamily="18" charset="0"/>
                <a:cs typeface="Times New Roman" panose="02020603050405020304" pitchFamily="18" charset="0"/>
              </a:rPr>
              <a:t>Excel</a:t>
            </a:r>
            <a:r>
              <a:rPr lang="en-GB" dirty="0">
                <a:latin typeface="Times New Roman" panose="02020603050405020304" pitchFamily="18" charset="0"/>
                <a:cs typeface="Times New Roman" panose="02020603050405020304" pitchFamily="18" charset="0"/>
              </a:rPr>
              <a:t>, </a:t>
            </a:r>
            <a:r>
              <a:rPr lang="en-GB" b="1" dirty="0">
                <a:latin typeface="Times New Roman" panose="02020603050405020304" pitchFamily="18" charset="0"/>
                <a:cs typeface="Times New Roman" panose="02020603050405020304" pitchFamily="18" charset="0"/>
              </a:rPr>
              <a:t>Transformation (PQE)</a:t>
            </a:r>
            <a:r>
              <a:rPr lang="en-GB" dirty="0">
                <a:latin typeface="Times New Roman" panose="02020603050405020304" pitchFamily="18" charset="0"/>
                <a:cs typeface="Times New Roman" panose="02020603050405020304" pitchFamily="18" charset="0"/>
              </a:rPr>
              <a:t>, and </a:t>
            </a:r>
            <a:r>
              <a:rPr lang="en-GB" b="1" dirty="0">
                <a:latin typeface="Times New Roman" panose="02020603050405020304" pitchFamily="18" charset="0"/>
                <a:cs typeface="Times New Roman" panose="02020603050405020304" pitchFamily="18" charset="0"/>
              </a:rPr>
              <a:t>Visualization (Power BI)</a:t>
            </a:r>
            <a:r>
              <a:rPr lang="en-GB"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4695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99BB8-D5C3-0456-7EE4-247C261D2AD4}"/>
              </a:ext>
            </a:extLst>
          </p:cNvPr>
          <p:cNvSpPr>
            <a:spLocks noGrp="1"/>
          </p:cNvSpPr>
          <p:nvPr>
            <p:ph type="title"/>
          </p:nvPr>
        </p:nvSpPr>
        <p:spPr/>
        <p:txBody>
          <a:bodyPr>
            <a:normAutofit/>
          </a:bodyPr>
          <a:lstStyle/>
          <a:p>
            <a:r>
              <a:rPr lang="en-IN" sz="3600" b="1" dirty="0">
                <a:solidFill>
                  <a:schemeClr val="accent2"/>
                </a:solidFill>
                <a:latin typeface="Times New Roman" panose="02020603050405020304" pitchFamily="18" charset="0"/>
                <a:cs typeface="Times New Roman" panose="02020603050405020304" pitchFamily="18" charset="0"/>
              </a:rPr>
              <a:t>Problem Statement :</a:t>
            </a:r>
            <a:endParaRPr lang="en-IN" sz="3600"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D735AC2-F00E-1E09-B016-54C3CE7ECB6D}"/>
              </a:ext>
            </a:extLst>
          </p:cNvPr>
          <p:cNvSpPr>
            <a:spLocks noGrp="1"/>
          </p:cNvSpPr>
          <p:nvPr>
            <p:ph idx="1"/>
          </p:nvPr>
        </p:nvSpPr>
        <p:spPr/>
        <p:txBody>
          <a:bodyPr/>
          <a:lstStyle/>
          <a:p>
            <a:endParaRPr lang="en-IN" dirty="0"/>
          </a:p>
          <a:p>
            <a:pPr marL="0" indent="0">
              <a:buNone/>
            </a:pPr>
            <a:r>
              <a:rPr lang="en-GB" dirty="0">
                <a:latin typeface="Times New Roman" panose="02020603050405020304" pitchFamily="18" charset="0"/>
                <a:cs typeface="Times New Roman" panose="02020603050405020304" pitchFamily="18" charset="0"/>
              </a:rPr>
              <a:t>Inconsistent inventory tracking often leads to:</a:t>
            </a:r>
          </a:p>
          <a:p>
            <a:pPr marL="0" indent="0">
              <a:buNone/>
            </a:pPr>
            <a:r>
              <a:rPr lang="en-GB" b="1" dirty="0">
                <a:latin typeface="Times New Roman" panose="02020603050405020304" pitchFamily="18" charset="0"/>
                <a:cs typeface="Times New Roman" panose="02020603050405020304" pitchFamily="18" charset="0"/>
              </a:rPr>
              <a:t>Capital Loss:</a:t>
            </a:r>
            <a:r>
              <a:rPr lang="en-GB" dirty="0">
                <a:latin typeface="Times New Roman" panose="02020603050405020304" pitchFamily="18" charset="0"/>
                <a:cs typeface="Times New Roman" panose="02020603050405020304" pitchFamily="18" charset="0"/>
              </a:rPr>
              <a:t> Money tied up in overstocked, slow-moving items.</a:t>
            </a:r>
          </a:p>
          <a:p>
            <a:pPr marL="0" indent="0">
              <a:buNone/>
            </a:pPr>
            <a:r>
              <a:rPr lang="en-GB" b="1" dirty="0">
                <a:latin typeface="Times New Roman" panose="02020603050405020304" pitchFamily="18" charset="0"/>
                <a:cs typeface="Times New Roman" panose="02020603050405020304" pitchFamily="18" charset="0"/>
              </a:rPr>
              <a:t>Lost Revenue:</a:t>
            </a:r>
            <a:r>
              <a:rPr lang="en-GB" dirty="0">
                <a:latin typeface="Times New Roman" panose="02020603050405020304" pitchFamily="18" charset="0"/>
                <a:cs typeface="Times New Roman" panose="02020603050405020304" pitchFamily="18" charset="0"/>
              </a:rPr>
              <a:t> Frequent stockouts of high-demand products.</a:t>
            </a:r>
          </a:p>
          <a:p>
            <a:pPr marL="0" indent="0">
              <a:buNone/>
            </a:pPr>
            <a:r>
              <a:rPr lang="en-GB" b="1" dirty="0">
                <a:latin typeface="Times New Roman" panose="02020603050405020304" pitchFamily="18" charset="0"/>
                <a:cs typeface="Times New Roman" panose="02020603050405020304" pitchFamily="18" charset="0"/>
              </a:rPr>
              <a:t>Operational Delays:</a:t>
            </a:r>
            <a:r>
              <a:rPr lang="en-GB" dirty="0">
                <a:latin typeface="Times New Roman" panose="02020603050405020304" pitchFamily="18" charset="0"/>
                <a:cs typeface="Times New Roman" panose="02020603050405020304" pitchFamily="18" charset="0"/>
              </a:rPr>
              <a:t> Unmonitored supplier lead times causing production halts.</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This project solves these issues by automating the calculation of safety stocks, reorder points, and identifying product categories that require the most attention.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6901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2FA5D-773A-E393-4A8F-668AD78E5D6C}"/>
              </a:ext>
            </a:extLst>
          </p:cNvPr>
          <p:cNvSpPr>
            <a:spLocks noGrp="1"/>
          </p:cNvSpPr>
          <p:nvPr>
            <p:ph type="title"/>
          </p:nvPr>
        </p:nvSpPr>
        <p:spPr/>
        <p:txBody>
          <a:bodyPr>
            <a:normAutofit/>
          </a:bodyPr>
          <a:lstStyle/>
          <a:p>
            <a:r>
              <a:rPr lang="en-IN" sz="3600" b="1" dirty="0">
                <a:solidFill>
                  <a:schemeClr val="accent2"/>
                </a:solidFill>
                <a:latin typeface="Times New Roman" panose="02020603050405020304" pitchFamily="18" charset="0"/>
                <a:cs typeface="Times New Roman" panose="02020603050405020304" pitchFamily="18" charset="0"/>
              </a:rPr>
              <a:t>Dataset Information :</a:t>
            </a:r>
            <a:endParaRPr lang="en-IN" sz="3600"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7CDD1D0-FC23-AF13-21BE-6B1C822E6BF6}"/>
              </a:ext>
            </a:extLst>
          </p:cNvPr>
          <p:cNvSpPr>
            <a:spLocks noGrp="1"/>
          </p:cNvSpPr>
          <p:nvPr>
            <p:ph idx="1"/>
          </p:nvPr>
        </p:nvSpPr>
        <p:spPr>
          <a:xfrm>
            <a:off x="1097280" y="2350604"/>
            <a:ext cx="10058400" cy="3518490"/>
          </a:xfrm>
        </p:spPr>
        <p:txBody>
          <a:bodyPr>
            <a:normAutofit/>
          </a:bodyPr>
          <a:lstStyle/>
          <a:p>
            <a:pPr marL="544068" lvl="1" indent="-342900">
              <a:buFont typeface="+mj-lt"/>
              <a:buAutoNum type="arabicPeriod"/>
            </a:pPr>
            <a:r>
              <a:rPr lang="en-GB" b="1" dirty="0">
                <a:latin typeface="Times New Roman" panose="02020603050405020304" pitchFamily="18" charset="0"/>
                <a:cs typeface="Times New Roman" panose="02020603050405020304" pitchFamily="18" charset="0"/>
              </a:rPr>
              <a:t>Domain:</a:t>
            </a:r>
            <a:r>
              <a:rPr lang="en-GB" dirty="0">
                <a:latin typeface="Times New Roman" panose="02020603050405020304" pitchFamily="18" charset="0"/>
                <a:cs typeface="Times New Roman" panose="02020603050405020304" pitchFamily="18" charset="0"/>
              </a:rPr>
              <a:t> Supply Chain &amp; Warehouse Management</a:t>
            </a:r>
          </a:p>
          <a:p>
            <a:pPr marL="544068" lvl="1" indent="-342900">
              <a:buFont typeface="+mj-lt"/>
              <a:buAutoNum type="arabicPeriod"/>
            </a:pPr>
            <a:r>
              <a:rPr lang="en-GB" b="1" dirty="0">
                <a:latin typeface="Times New Roman" panose="02020603050405020304" pitchFamily="18" charset="0"/>
                <a:cs typeface="Times New Roman" panose="02020603050405020304" pitchFamily="18" charset="0"/>
              </a:rPr>
              <a:t>Data Points:</a:t>
            </a:r>
            <a:r>
              <a:rPr lang="en-GB" dirty="0">
                <a:latin typeface="Times New Roman" panose="02020603050405020304" pitchFamily="18" charset="0"/>
                <a:cs typeface="Times New Roman" panose="02020603050405020304" pitchFamily="18" charset="0"/>
              </a:rPr>
              <a:t> ~[Insert Number, e.g., 2,000+] Rows</a:t>
            </a:r>
          </a:p>
          <a:p>
            <a:pPr marL="544068" lvl="1" indent="-342900">
              <a:buFont typeface="+mj-lt"/>
              <a:buAutoNum type="arabicPeriod"/>
            </a:pPr>
            <a:r>
              <a:rPr lang="en-GB" b="1" dirty="0">
                <a:latin typeface="Times New Roman" panose="02020603050405020304" pitchFamily="18" charset="0"/>
                <a:cs typeface="Times New Roman" panose="02020603050405020304" pitchFamily="18" charset="0"/>
              </a:rPr>
              <a:t>Key Columns:</a:t>
            </a:r>
            <a:r>
              <a:rPr lang="en-GB" dirty="0">
                <a:latin typeface="Times New Roman" panose="02020603050405020304" pitchFamily="18" charset="0"/>
                <a:cs typeface="Times New Roman" panose="02020603050405020304" pitchFamily="18" charset="0"/>
              </a:rPr>
              <a:t> </a:t>
            </a:r>
          </a:p>
          <a:p>
            <a:pPr lvl="2"/>
            <a:r>
              <a:rPr lang="en-GB" dirty="0" err="1">
                <a:latin typeface="Times New Roman" panose="02020603050405020304" pitchFamily="18" charset="0"/>
                <a:cs typeface="Times New Roman" panose="02020603050405020304" pitchFamily="18" charset="0"/>
              </a:rPr>
              <a:t>Product_ID</a:t>
            </a:r>
            <a:r>
              <a:rPr lang="en-GB" dirty="0">
                <a:latin typeface="Times New Roman" panose="02020603050405020304" pitchFamily="18" charset="0"/>
                <a:cs typeface="Times New Roman" panose="02020603050405020304" pitchFamily="18" charset="0"/>
              </a:rPr>
              <a:t>, Category, </a:t>
            </a:r>
            <a:r>
              <a:rPr lang="en-GB" dirty="0" err="1">
                <a:latin typeface="Times New Roman" panose="02020603050405020304" pitchFamily="18" charset="0"/>
                <a:cs typeface="Times New Roman" panose="02020603050405020304" pitchFamily="18" charset="0"/>
              </a:rPr>
              <a:t>Warehouse_Location</a:t>
            </a:r>
            <a:endParaRPr lang="en-GB" dirty="0">
              <a:latin typeface="Times New Roman" panose="02020603050405020304" pitchFamily="18" charset="0"/>
              <a:cs typeface="Times New Roman" panose="02020603050405020304" pitchFamily="18" charset="0"/>
            </a:endParaRPr>
          </a:p>
          <a:p>
            <a:pPr lvl="2"/>
            <a:r>
              <a:rPr lang="en-GB" sz="1600" dirty="0" err="1">
                <a:latin typeface="Times New Roman" panose="02020603050405020304" pitchFamily="18" charset="0"/>
                <a:cs typeface="Times New Roman" panose="02020603050405020304" pitchFamily="18" charset="0"/>
              </a:rPr>
              <a:t>Unit_Cost</a:t>
            </a:r>
            <a:r>
              <a:rPr lang="en-GB" sz="1600" dirty="0">
                <a:latin typeface="Times New Roman" panose="02020603050405020304" pitchFamily="18" charset="0"/>
                <a:cs typeface="Times New Roman" panose="02020603050405020304" pitchFamily="18" charset="0"/>
              </a:rPr>
              <a:t>, </a:t>
            </a:r>
            <a:r>
              <a:rPr lang="en-GB" sz="1600" dirty="0" err="1">
                <a:latin typeface="Times New Roman" panose="02020603050405020304" pitchFamily="18" charset="0"/>
                <a:cs typeface="Times New Roman" panose="02020603050405020304" pitchFamily="18" charset="0"/>
              </a:rPr>
              <a:t>Selling_Price</a:t>
            </a:r>
            <a:r>
              <a:rPr lang="en-GB" sz="1600" dirty="0">
                <a:latin typeface="Times New Roman" panose="02020603050405020304" pitchFamily="18" charset="0"/>
                <a:cs typeface="Times New Roman" panose="02020603050405020304" pitchFamily="18" charset="0"/>
              </a:rPr>
              <a:t>, </a:t>
            </a:r>
            <a:r>
              <a:rPr lang="en-GB" sz="1600" dirty="0" err="1">
                <a:latin typeface="Times New Roman" panose="02020603050405020304" pitchFamily="18" charset="0"/>
                <a:cs typeface="Times New Roman" panose="02020603050405020304" pitchFamily="18" charset="0"/>
              </a:rPr>
              <a:t>Quantity_on_Hand</a:t>
            </a:r>
            <a:endParaRPr lang="en-GB" sz="1600" dirty="0">
              <a:latin typeface="Times New Roman" panose="02020603050405020304" pitchFamily="18" charset="0"/>
              <a:cs typeface="Times New Roman" panose="02020603050405020304" pitchFamily="18" charset="0"/>
            </a:endParaRPr>
          </a:p>
          <a:p>
            <a:pPr lvl="2"/>
            <a:r>
              <a:rPr lang="en-GB" sz="1600" dirty="0" err="1">
                <a:latin typeface="Times New Roman" panose="02020603050405020304" pitchFamily="18" charset="0"/>
                <a:cs typeface="Times New Roman" panose="02020603050405020304" pitchFamily="18" charset="0"/>
              </a:rPr>
              <a:t>Lead_Time</a:t>
            </a:r>
            <a:r>
              <a:rPr lang="en-GB" sz="1600" dirty="0">
                <a:latin typeface="Times New Roman" panose="02020603050405020304" pitchFamily="18" charset="0"/>
                <a:cs typeface="Times New Roman" panose="02020603050405020304" pitchFamily="18" charset="0"/>
              </a:rPr>
              <a:t>, </a:t>
            </a:r>
            <a:r>
              <a:rPr lang="en-GB" sz="1600" dirty="0" err="1">
                <a:latin typeface="Times New Roman" panose="02020603050405020304" pitchFamily="18" charset="0"/>
                <a:cs typeface="Times New Roman" panose="02020603050405020304" pitchFamily="18" charset="0"/>
              </a:rPr>
              <a:t>Reorder_Point</a:t>
            </a:r>
            <a:r>
              <a:rPr lang="en-GB" sz="1600" dirty="0">
                <a:latin typeface="Times New Roman" panose="02020603050405020304" pitchFamily="18" charset="0"/>
                <a:cs typeface="Times New Roman" panose="02020603050405020304" pitchFamily="18" charset="0"/>
              </a:rPr>
              <a:t>, </a:t>
            </a:r>
            <a:r>
              <a:rPr lang="en-GB" sz="1600" dirty="0" err="1">
                <a:latin typeface="Times New Roman" panose="02020603050405020304" pitchFamily="18" charset="0"/>
                <a:cs typeface="Times New Roman" panose="02020603050405020304" pitchFamily="18" charset="0"/>
              </a:rPr>
              <a:t>Supplier_Performance_Rating</a:t>
            </a:r>
            <a:endParaRPr lang="en-GB" sz="16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5384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B619D-853F-CA1F-FA59-F25CEC99FB74}"/>
              </a:ext>
            </a:extLst>
          </p:cNvPr>
          <p:cNvSpPr>
            <a:spLocks noGrp="1"/>
          </p:cNvSpPr>
          <p:nvPr>
            <p:ph type="title"/>
          </p:nvPr>
        </p:nvSpPr>
        <p:spPr/>
        <p:txBody>
          <a:bodyPr>
            <a:normAutofit/>
          </a:bodyPr>
          <a:lstStyle/>
          <a:p>
            <a:r>
              <a:rPr lang="en-IN" sz="3600" b="1" dirty="0">
                <a:solidFill>
                  <a:schemeClr val="accent2"/>
                </a:solidFill>
                <a:latin typeface="Times New Roman" panose="02020603050405020304" pitchFamily="18" charset="0"/>
                <a:cs typeface="Times New Roman" panose="02020603050405020304" pitchFamily="18" charset="0"/>
              </a:rPr>
              <a:t>Tools &amp; Technologies Used</a:t>
            </a:r>
            <a:endParaRPr lang="en-IN" sz="3600"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6A2787D-7413-5FC0-0FF6-C23966B2F8C7}"/>
              </a:ext>
            </a:extLst>
          </p:cNvPr>
          <p:cNvSpPr>
            <a:spLocks noGrp="1"/>
          </p:cNvSpPr>
          <p:nvPr>
            <p:ph idx="1"/>
          </p:nvPr>
        </p:nvSpPr>
        <p:spPr>
          <a:xfrm>
            <a:off x="1097280" y="2559326"/>
            <a:ext cx="10058400" cy="1277178"/>
          </a:xfrm>
        </p:spPr>
        <p:txBody>
          <a:bodyPr>
            <a:normAutofit/>
          </a:bodyPr>
          <a:lstStyle/>
          <a:p>
            <a:pPr lvl="1"/>
            <a:r>
              <a:rPr lang="en-GB" sz="2000" b="1" dirty="0">
                <a:latin typeface="Times New Roman" panose="02020603050405020304" pitchFamily="18" charset="0"/>
                <a:cs typeface="Times New Roman" panose="02020603050405020304" pitchFamily="18" charset="0"/>
              </a:rPr>
              <a:t>Microsoft Power BI:</a:t>
            </a:r>
            <a:r>
              <a:rPr lang="en-GB" sz="2000" dirty="0">
                <a:latin typeface="Times New Roman" panose="02020603050405020304" pitchFamily="18" charset="0"/>
                <a:cs typeface="Times New Roman" panose="02020603050405020304" pitchFamily="18" charset="0"/>
              </a:rPr>
              <a:t> Developed an interactive dashboard to monitor KPIs.</a:t>
            </a:r>
          </a:p>
          <a:p>
            <a:pPr lvl="1"/>
            <a:r>
              <a:rPr lang="en-GB" sz="2000" b="1" dirty="0">
                <a:latin typeface="Times New Roman" panose="02020603050405020304" pitchFamily="18" charset="0"/>
                <a:cs typeface="Times New Roman" panose="02020603050405020304" pitchFamily="18" charset="0"/>
              </a:rPr>
              <a:t>DAX:</a:t>
            </a:r>
            <a:r>
              <a:rPr lang="en-GB" sz="2000" dirty="0">
                <a:latin typeface="Times New Roman" panose="02020603050405020304" pitchFamily="18" charset="0"/>
                <a:cs typeface="Times New Roman" panose="02020603050405020304" pitchFamily="18" charset="0"/>
              </a:rPr>
              <a:t> Created custom measures for Inventory Turnover Ratio and Stock-to-Sales Ratio.</a:t>
            </a:r>
          </a:p>
          <a:p>
            <a:pPr marL="201168" lvl="1"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2122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AE1D7-DEFB-CFF1-905C-E95FFC57F14B}"/>
              </a:ext>
            </a:extLst>
          </p:cNvPr>
          <p:cNvSpPr>
            <a:spLocks noGrp="1"/>
          </p:cNvSpPr>
          <p:nvPr>
            <p:ph type="title"/>
          </p:nvPr>
        </p:nvSpPr>
        <p:spPr>
          <a:xfrm>
            <a:off x="1097280" y="838225"/>
            <a:ext cx="10058400" cy="657614"/>
          </a:xfrm>
        </p:spPr>
        <p:txBody>
          <a:bodyPr>
            <a:normAutofit/>
          </a:bodyPr>
          <a:lstStyle/>
          <a:p>
            <a:r>
              <a:rPr lang="en-IN" sz="3600" b="1" dirty="0">
                <a:solidFill>
                  <a:schemeClr val="accent2"/>
                </a:solidFill>
                <a:latin typeface="Times New Roman" panose="02020603050405020304" pitchFamily="18" charset="0"/>
                <a:cs typeface="Times New Roman" panose="02020603050405020304" pitchFamily="18" charset="0"/>
              </a:rPr>
              <a:t>Dashboard Preview :</a:t>
            </a:r>
            <a:endParaRPr lang="en-IN" sz="3600" dirty="0">
              <a:solidFill>
                <a:schemeClr val="accent2"/>
              </a:solidFill>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F5757BBA-4F53-A724-902C-7F3D3C2315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597259" y="1789113"/>
            <a:ext cx="7057807" cy="4079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3465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66A6D0A-DAEF-FE4E-0EFD-2DF759BD70B2}"/>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874643" y="287338"/>
            <a:ext cx="11317357" cy="5581650"/>
          </a:xfrm>
          <a:prstGeom prst="rect">
            <a:avLst/>
          </a:prstGeom>
        </p:spPr>
      </p:pic>
    </p:spTree>
    <p:extLst>
      <p:ext uri="{BB962C8B-B14F-4D97-AF65-F5344CB8AC3E}">
        <p14:creationId xmlns:p14="http://schemas.microsoft.com/office/powerpoint/2010/main" val="1300360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94E3D-3FE6-7D0E-4C7B-6BDA1AC8E67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B64E5A6-B836-9084-812A-56E60E02FD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6320" y="287338"/>
            <a:ext cx="9943938" cy="5581650"/>
          </a:xfrm>
          <a:prstGeom prst="rect">
            <a:avLst/>
          </a:prstGeom>
        </p:spPr>
      </p:pic>
    </p:spTree>
    <p:extLst>
      <p:ext uri="{BB962C8B-B14F-4D97-AF65-F5344CB8AC3E}">
        <p14:creationId xmlns:p14="http://schemas.microsoft.com/office/powerpoint/2010/main" val="2423340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24BF6-0ADA-FDD9-CDB3-F333CF6A0E74}"/>
              </a:ext>
            </a:extLst>
          </p:cNvPr>
          <p:cNvSpPr>
            <a:spLocks noGrp="1"/>
          </p:cNvSpPr>
          <p:nvPr>
            <p:ph type="title"/>
          </p:nvPr>
        </p:nvSpPr>
        <p:spPr/>
        <p:txBody>
          <a:bodyPr>
            <a:normAutofit/>
          </a:bodyPr>
          <a:lstStyle/>
          <a:p>
            <a:r>
              <a:rPr lang="en-IN" sz="3600" b="1" dirty="0">
                <a:solidFill>
                  <a:schemeClr val="accent2"/>
                </a:solidFill>
                <a:latin typeface="Times New Roman" panose="02020603050405020304" pitchFamily="18" charset="0"/>
                <a:cs typeface="Times New Roman" panose="02020603050405020304" pitchFamily="18" charset="0"/>
              </a:rPr>
              <a:t>Future Enhancements</a:t>
            </a:r>
            <a:endParaRPr lang="en-IN" sz="3600"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222EBC-29B0-1268-0371-015B9B7992F8}"/>
              </a:ext>
            </a:extLst>
          </p:cNvPr>
          <p:cNvSpPr>
            <a:spLocks noGrp="1"/>
          </p:cNvSpPr>
          <p:nvPr>
            <p:ph idx="1"/>
          </p:nvPr>
        </p:nvSpPr>
        <p:spPr>
          <a:xfrm>
            <a:off x="1097280" y="1845734"/>
            <a:ext cx="10058400" cy="2452940"/>
          </a:xfrm>
        </p:spPr>
        <p:txBody>
          <a:bodyPr/>
          <a:lstStyle/>
          <a:p>
            <a:pPr lvl="1"/>
            <a:r>
              <a:rPr lang="en-GB" sz="2000" b="1" dirty="0">
                <a:latin typeface="Times New Roman" panose="02020603050405020304" pitchFamily="18" charset="0"/>
                <a:cs typeface="Times New Roman" panose="02020603050405020304" pitchFamily="18" charset="0"/>
              </a:rPr>
              <a:t>Demand Forecasting:</a:t>
            </a:r>
            <a:r>
              <a:rPr lang="en-GB" sz="2000" dirty="0">
                <a:latin typeface="Times New Roman" panose="02020603050405020304" pitchFamily="18" charset="0"/>
                <a:cs typeface="Times New Roman" panose="02020603050405020304" pitchFamily="18" charset="0"/>
              </a:rPr>
              <a:t> Implementing a Time-Series model in Python (ARIMA/Prophet) to predict future stock needs.</a:t>
            </a:r>
          </a:p>
          <a:p>
            <a:pPr lvl="1"/>
            <a:r>
              <a:rPr lang="en-GB" sz="2000" b="1" dirty="0">
                <a:latin typeface="Times New Roman" panose="02020603050405020304" pitchFamily="18" charset="0"/>
                <a:cs typeface="Times New Roman" panose="02020603050405020304" pitchFamily="18" charset="0"/>
              </a:rPr>
              <a:t>Live API Integration:</a:t>
            </a:r>
            <a:r>
              <a:rPr lang="en-GB" sz="2000" dirty="0">
                <a:latin typeface="Times New Roman" panose="02020603050405020304" pitchFamily="18" charset="0"/>
                <a:cs typeface="Times New Roman" panose="02020603050405020304" pitchFamily="18" charset="0"/>
              </a:rPr>
              <a:t> Connecting the dashboard to a real-time warehouse management system.</a:t>
            </a:r>
          </a:p>
          <a:p>
            <a:pPr lvl="1"/>
            <a:r>
              <a:rPr lang="en-GB" sz="2000" b="1" dirty="0">
                <a:latin typeface="Times New Roman" panose="02020603050405020304" pitchFamily="18" charset="0"/>
                <a:cs typeface="Times New Roman" panose="02020603050405020304" pitchFamily="18" charset="0"/>
              </a:rPr>
              <a:t>Cost Optimization:</a:t>
            </a:r>
            <a:r>
              <a:rPr lang="en-GB" sz="2000" dirty="0">
                <a:latin typeface="Times New Roman" panose="02020603050405020304" pitchFamily="18" charset="0"/>
                <a:cs typeface="Times New Roman" panose="02020603050405020304" pitchFamily="18" charset="0"/>
              </a:rPr>
              <a:t> Adding a module to calculate the Economic Order Quantity (EOQ) for all Category A items.</a:t>
            </a:r>
          </a:p>
          <a:p>
            <a:endParaRPr lang="en-IN" dirty="0"/>
          </a:p>
        </p:txBody>
      </p:sp>
    </p:spTree>
    <p:extLst>
      <p:ext uri="{BB962C8B-B14F-4D97-AF65-F5344CB8AC3E}">
        <p14:creationId xmlns:p14="http://schemas.microsoft.com/office/powerpoint/2010/main" val="1123766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6D338-7E68-A4AF-804E-C139893575C3}"/>
              </a:ext>
            </a:extLst>
          </p:cNvPr>
          <p:cNvSpPr>
            <a:spLocks noGrp="1"/>
          </p:cNvSpPr>
          <p:nvPr>
            <p:ph type="title"/>
          </p:nvPr>
        </p:nvSpPr>
        <p:spPr/>
        <p:txBody>
          <a:bodyPr>
            <a:normAutofit/>
          </a:bodyPr>
          <a:lstStyle/>
          <a:p>
            <a:br>
              <a:rPr lang="en-IN" sz="3600" b="1" dirty="0">
                <a:solidFill>
                  <a:schemeClr val="accent2"/>
                </a:solidFill>
                <a:latin typeface="Times New Roman" panose="02020603050405020304" pitchFamily="18" charset="0"/>
                <a:cs typeface="Times New Roman" panose="02020603050405020304" pitchFamily="18" charset="0"/>
              </a:rPr>
            </a:br>
            <a:r>
              <a:rPr lang="en-IN" sz="3600" b="1" dirty="0">
                <a:solidFill>
                  <a:schemeClr val="accent2"/>
                </a:solidFill>
                <a:latin typeface="Times New Roman" panose="02020603050405020304" pitchFamily="18" charset="0"/>
                <a:cs typeface="Times New Roman" panose="02020603050405020304" pitchFamily="18" charset="0"/>
              </a:rPr>
              <a:t>Conclusion :</a:t>
            </a:r>
            <a:endParaRPr lang="en-IN" dirty="0"/>
          </a:p>
        </p:txBody>
      </p:sp>
      <p:sp>
        <p:nvSpPr>
          <p:cNvPr id="3" name="Content Placeholder 2">
            <a:extLst>
              <a:ext uri="{FF2B5EF4-FFF2-40B4-BE49-F238E27FC236}">
                <a16:creationId xmlns:a16="http://schemas.microsoft.com/office/drawing/2014/main" id="{91E48BFD-C511-4FAA-2376-F2570BEE5063}"/>
              </a:ext>
            </a:extLst>
          </p:cNvPr>
          <p:cNvSpPr>
            <a:spLocks noGrp="1"/>
          </p:cNvSpPr>
          <p:nvPr>
            <p:ph idx="1"/>
          </p:nvPr>
        </p:nvSpPr>
        <p:spPr/>
        <p:txBody>
          <a:bodyPr/>
          <a:lstStyle/>
          <a:p>
            <a:endParaRPr lang="en-GB" dirty="0">
              <a:latin typeface="Times New Roman" panose="02020603050405020304" pitchFamily="18" charset="0"/>
              <a:cs typeface="Times New Roman" panose="02020603050405020304" pitchFamily="18" charset="0"/>
            </a:endParaRPr>
          </a:p>
          <a:p>
            <a:r>
              <a:rPr lang="en-GB" dirty="0">
                <a:latin typeface="Times New Roman" panose="02020603050405020304" pitchFamily="18" charset="0"/>
                <a:cs typeface="Times New Roman" panose="02020603050405020304" pitchFamily="18" charset="0"/>
              </a:rPr>
              <a:t>This project successfully bridges the gap between raw logistics data and strategic business decisions. By implementing these data-driven insights, a business can expect reduced holding costs and a more resilient supply chain.</a:t>
            </a:r>
          </a:p>
          <a:p>
            <a:endParaRPr lang="en-GB" dirty="0">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2150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B73CA-5433-15B1-26D3-052EE99DB0C7}"/>
              </a:ext>
            </a:extLst>
          </p:cNvPr>
          <p:cNvSpPr>
            <a:spLocks noGrp="1"/>
          </p:cNvSpPr>
          <p:nvPr>
            <p:ph type="title" idx="4294967295"/>
          </p:nvPr>
        </p:nvSpPr>
        <p:spPr>
          <a:xfrm>
            <a:off x="141632" y="2235407"/>
            <a:ext cx="11908735" cy="1449387"/>
          </a:xfrm>
        </p:spPr>
        <p:txBody>
          <a:bodyPr/>
          <a:lstStyle/>
          <a:p>
            <a:pPr algn="ctr"/>
            <a:r>
              <a:rPr lang="en-IN" b="1" dirty="0">
                <a:solidFill>
                  <a:schemeClr val="accent2"/>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69909771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21</TotalTime>
  <Words>327</Words>
  <Application>Microsoft Office PowerPoint</Application>
  <PresentationFormat>Widescreen</PresentationFormat>
  <Paragraphs>34</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Retrospect</vt:lpstr>
      <vt:lpstr>Inventory &amp; Supply Chain Management Analysis</vt:lpstr>
      <vt:lpstr>Project Overview :</vt:lpstr>
      <vt:lpstr>Problem Statement :</vt:lpstr>
      <vt:lpstr>Dataset Information :</vt:lpstr>
      <vt:lpstr>Tools &amp; Technologies Used</vt:lpstr>
      <vt:lpstr>Dashboard Preview :</vt:lpstr>
      <vt:lpstr>PowerPoint Presentation</vt:lpstr>
      <vt:lpstr>PowerPoint Presentation</vt:lpstr>
      <vt:lpstr>Future Enhancements</vt:lpstr>
      <vt:lpstr> 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Kannan Gurusamy</dc:creator>
  <cp:lastModifiedBy>Kannan Gurusamy</cp:lastModifiedBy>
  <cp:revision>1</cp:revision>
  <dcterms:created xsi:type="dcterms:W3CDTF">2026-05-04T09:42:53Z</dcterms:created>
  <dcterms:modified xsi:type="dcterms:W3CDTF">2026-05-04T10:04:36Z</dcterms:modified>
</cp:coreProperties>
</file>